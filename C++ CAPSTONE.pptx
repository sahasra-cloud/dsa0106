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68" r:id="rId3"/>
    <p:sldId id="267" r:id="rId4"/>
    <p:sldId id="282" r:id="rId5"/>
    <p:sldId id="272" r:id="rId6"/>
    <p:sldId id="270" r:id="rId7"/>
    <p:sldId id="275" r:id="rId8"/>
    <p:sldId id="278" r:id="rId9"/>
    <p:sldId id="283" r:id="rId10"/>
    <p:sldId id="284" r:id="rId11"/>
    <p:sldId id="279" r:id="rId12"/>
    <p:sldId id="281" r:id="rId13"/>
    <p:sldId id="285" r:id="rId14"/>
    <p:sldId id="277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saida" userId="b97bd2235427f45f" providerId="LiveId" clId="{E1FD7C70-A37B-490C-8C58-433DC77F68B1}"/>
    <pc:docChg chg="modSld">
      <pc:chgData name="john saida" userId="b97bd2235427f45f" providerId="LiveId" clId="{E1FD7C70-A37B-490C-8C58-433DC77F68B1}" dt="2026-10-22T15:59:07.913" v="70" actId="1076"/>
      <pc:docMkLst>
        <pc:docMk/>
      </pc:docMkLst>
      <pc:sldChg chg="modSp mod">
        <pc:chgData name="john saida" userId="b97bd2235427f45f" providerId="LiveId" clId="{E1FD7C70-A37B-490C-8C58-433DC77F68B1}" dt="2026-10-22T15:48:12.865" v="1" actId="20577"/>
        <pc:sldMkLst>
          <pc:docMk/>
          <pc:sldMk cId="0" sldId="266"/>
        </pc:sldMkLst>
        <pc:spChg chg="mod">
          <ac:chgData name="john saida" userId="b97bd2235427f45f" providerId="LiveId" clId="{E1FD7C70-A37B-490C-8C58-433DC77F68B1}" dt="2026-10-22T15:48:12.865" v="1" actId="20577"/>
          <ac:spMkLst>
            <pc:docMk/>
            <pc:sldMk cId="0" sldId="266"/>
            <ac:spMk id="6" creationId="{00000000-0000-0000-0000-000000000000}"/>
          </ac:spMkLst>
        </pc:spChg>
      </pc:sldChg>
      <pc:sldChg chg="addSp modSp mod">
        <pc:chgData name="john saida" userId="b97bd2235427f45f" providerId="LiveId" clId="{E1FD7C70-A37B-490C-8C58-433DC77F68B1}" dt="2026-10-22T15:57:59.611" v="56" actId="1076"/>
        <pc:sldMkLst>
          <pc:docMk/>
          <pc:sldMk cId="1083659526" sldId="275"/>
        </pc:sldMkLst>
        <pc:spChg chg="mod">
          <ac:chgData name="john saida" userId="b97bd2235427f45f" providerId="LiveId" clId="{E1FD7C70-A37B-490C-8C58-433DC77F68B1}" dt="2026-10-22T15:57:59.611" v="56" actId="1076"/>
          <ac:spMkLst>
            <pc:docMk/>
            <pc:sldMk cId="1083659526" sldId="275"/>
            <ac:spMk id="5" creationId="{BD9D93A8-DEB3-7287-9F7B-562775906F62}"/>
          </ac:spMkLst>
        </pc:spChg>
        <pc:picChg chg="add mod modCrop">
          <ac:chgData name="john saida" userId="b97bd2235427f45f" providerId="LiveId" clId="{E1FD7C70-A37B-490C-8C58-433DC77F68B1}" dt="2026-10-22T15:54:51.262" v="19" actId="1076"/>
          <ac:picMkLst>
            <pc:docMk/>
            <pc:sldMk cId="1083659526" sldId="275"/>
            <ac:picMk id="6" creationId="{F88D2973-A530-6D93-579C-71CD9A5731D6}"/>
          </ac:picMkLst>
        </pc:picChg>
      </pc:sldChg>
      <pc:sldChg chg="addSp modSp mod">
        <pc:chgData name="john saida" userId="b97bd2235427f45f" providerId="LiveId" clId="{E1FD7C70-A37B-490C-8C58-433DC77F68B1}" dt="2026-10-22T15:57:51.334" v="54" actId="404"/>
        <pc:sldMkLst>
          <pc:docMk/>
          <pc:sldMk cId="3170767671" sldId="278"/>
        </pc:sldMkLst>
        <pc:spChg chg="mod">
          <ac:chgData name="john saida" userId="b97bd2235427f45f" providerId="LiveId" clId="{E1FD7C70-A37B-490C-8C58-433DC77F68B1}" dt="2026-10-22T15:57:51.334" v="54" actId="404"/>
          <ac:spMkLst>
            <pc:docMk/>
            <pc:sldMk cId="3170767671" sldId="278"/>
            <ac:spMk id="5" creationId="{D397B2CF-2FA1-817A-DD16-8261216B9FA6}"/>
          </ac:spMkLst>
        </pc:spChg>
        <pc:picChg chg="add mod modCrop">
          <ac:chgData name="john saida" userId="b97bd2235427f45f" providerId="LiveId" clId="{E1FD7C70-A37B-490C-8C58-433DC77F68B1}" dt="2026-10-22T15:56:15.732" v="34" actId="1076"/>
          <ac:picMkLst>
            <pc:docMk/>
            <pc:sldMk cId="3170767671" sldId="278"/>
            <ac:picMk id="6" creationId="{D6CA2B9D-46E2-2F61-2D98-01287F80F1A7}"/>
          </ac:picMkLst>
        </pc:picChg>
      </pc:sldChg>
      <pc:sldChg chg="addSp modSp mod">
        <pc:chgData name="john saida" userId="b97bd2235427f45f" providerId="LiveId" clId="{E1FD7C70-A37B-490C-8C58-433DC77F68B1}" dt="2026-10-22T15:57:42.554" v="53" actId="404"/>
        <pc:sldMkLst>
          <pc:docMk/>
          <pc:sldMk cId="3326217728" sldId="283"/>
        </pc:sldMkLst>
        <pc:spChg chg="mod">
          <ac:chgData name="john saida" userId="b97bd2235427f45f" providerId="LiveId" clId="{E1FD7C70-A37B-490C-8C58-433DC77F68B1}" dt="2026-10-22T15:57:42.554" v="53" actId="404"/>
          <ac:spMkLst>
            <pc:docMk/>
            <pc:sldMk cId="3326217728" sldId="283"/>
            <ac:spMk id="5" creationId="{BEB61E0D-4976-1CFB-F84B-9251A679D4D8}"/>
          </ac:spMkLst>
        </pc:spChg>
        <pc:picChg chg="add mod modCrop">
          <ac:chgData name="john saida" userId="b97bd2235427f45f" providerId="LiveId" clId="{E1FD7C70-A37B-490C-8C58-433DC77F68B1}" dt="2026-10-22T15:57:29.574" v="52" actId="732"/>
          <ac:picMkLst>
            <pc:docMk/>
            <pc:sldMk cId="3326217728" sldId="283"/>
            <ac:picMk id="6" creationId="{D0158F66-140F-7110-23CB-96AB78858A8A}"/>
          </ac:picMkLst>
        </pc:picChg>
      </pc:sldChg>
      <pc:sldChg chg="addSp modSp mod">
        <pc:chgData name="john saida" userId="b97bd2235427f45f" providerId="LiveId" clId="{E1FD7C70-A37B-490C-8C58-433DC77F68B1}" dt="2026-10-22T15:59:07.913" v="70" actId="1076"/>
        <pc:sldMkLst>
          <pc:docMk/>
          <pc:sldMk cId="3584585430" sldId="284"/>
        </pc:sldMkLst>
        <pc:spChg chg="mod">
          <ac:chgData name="john saida" userId="b97bd2235427f45f" providerId="LiveId" clId="{E1FD7C70-A37B-490C-8C58-433DC77F68B1}" dt="2026-10-22T15:58:28.897" v="61" actId="14100"/>
          <ac:spMkLst>
            <pc:docMk/>
            <pc:sldMk cId="3584585430" sldId="284"/>
            <ac:spMk id="5" creationId="{E7261F8C-12DF-51AC-2F7E-9BE7A4BFB93C}"/>
          </ac:spMkLst>
        </pc:spChg>
        <pc:picChg chg="add mod modCrop">
          <ac:chgData name="john saida" userId="b97bd2235427f45f" providerId="LiveId" clId="{E1FD7C70-A37B-490C-8C58-433DC77F68B1}" dt="2026-10-22T15:59:07.913" v="70" actId="1076"/>
          <ac:picMkLst>
            <pc:docMk/>
            <pc:sldMk cId="3584585430" sldId="284"/>
            <ac:picMk id="6" creationId="{F49E9EE2-95E2-3790-06CA-B4692FF9E6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80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9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5099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3558" y="2636190"/>
            <a:ext cx="9144000" cy="661267"/>
          </a:xfrm>
        </p:spPr>
        <p:txBody>
          <a:bodyPr>
            <a:normAutofit fontScale="90000"/>
          </a:bodyPr>
          <a:lstStyle/>
          <a:p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55652" y="4659472"/>
            <a:ext cx="4244936" cy="1196824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CHEREDDY HARITHA(192425280)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CHIDELLA SAHASRA(192472078)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MATTA NIHARIKA(192472392)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B.SIVA PARVATHI(192525194)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8620" y="4659472"/>
            <a:ext cx="4765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620" y="3429000"/>
            <a:ext cx="11514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DSA0106 -OBJECT ORIENTED PROGRAMMING WITH C++</a:t>
            </a:r>
          </a:p>
        </p:txBody>
      </p:sp>
      <p:pic>
        <p:nvPicPr>
          <p:cNvPr id="10" name="image20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882803" y="546984"/>
            <a:ext cx="10131425" cy="10394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49287" y="2049741"/>
            <a:ext cx="10131424" cy="12477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AUTONOMOUS VEHICLE CONTROL SIMULATION</a:t>
            </a:r>
          </a:p>
          <a:p>
            <a:pPr algn="ctr">
              <a:lnSpc>
                <a:spcPct val="105000"/>
              </a:lnSpc>
            </a:pPr>
            <a:r>
              <a:rPr lang="en-US" sz="1600" i="1" dirty="0">
                <a:solidFill>
                  <a:schemeClr val="accent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Virtual Base Classes and Inheritance — Benchmarked Against Conventional Modular Programming for Enhanced Software Reusability</a:t>
            </a:r>
            <a:endParaRPr 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68A2-7022-1C01-A9F2-03756D8D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7CC7796-E3A6-BB8D-BF84-C0BF12494017}"/>
              </a:ext>
            </a:extLst>
          </p:cNvPr>
          <p:cNvSpPr/>
          <p:nvPr/>
        </p:nvSpPr>
        <p:spPr>
          <a:xfrm>
            <a:off x="1379578" y="360527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C4DD72E-ABF9-A1C7-74F7-F2C5450CBB45}"/>
              </a:ext>
            </a:extLst>
          </p:cNvPr>
          <p:cNvSpPr/>
          <p:nvPr/>
        </p:nvSpPr>
        <p:spPr>
          <a:xfrm>
            <a:off x="563880" y="1624801"/>
            <a:ext cx="11064240" cy="4667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simulated autonomous vehicle control system using C++.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vehicle can start, stop, move, turn, and detect simulated obstacles.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 uses classes, inheritance, virtual base classes, and polymorphism.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conventional modular version is developed using separate functions.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approaches are compared based on reusability, maintainability, execution time, memory usage, and scalability.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42E05-A8B2-2F8A-AE87-A7805CA0F1E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16F2D-CA18-08DF-D936-9297F71A18D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12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E60E4853-0E43-5104-63E6-989AD506D31C}"/>
              </a:ext>
            </a:extLst>
          </p:cNvPr>
          <p:cNvSpPr/>
          <p:nvPr/>
        </p:nvSpPr>
        <p:spPr>
          <a:xfrm>
            <a:off x="548640" y="1530995"/>
            <a:ext cx="11063935" cy="4590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vehicle-control programs often repeat common control logic.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duplication makes the system difficult to maintain.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vehicle features requires changes in multiple functions.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needs a reusable and scalable vehicle-control design.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OOP is compared with modular programming using execution time, memory usage, maintainability, reusability, and scalability.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D6621EE-A50A-2049-68C7-4507B194832A}"/>
              </a:ext>
            </a:extLst>
          </p:cNvPr>
          <p:cNvSpPr/>
          <p:nvPr/>
        </p:nvSpPr>
        <p:spPr>
          <a:xfrm>
            <a:off x="1379578" y="369865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9A2CC-4AAF-6557-ED66-999D005B10D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0F741D-3C4B-DFB3-1705-6DE2ACECE6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454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1620-30DC-287E-5E9E-D120F787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F611423-EE5D-51CB-2380-F5F758479559}"/>
              </a:ext>
            </a:extLst>
          </p:cNvPr>
          <p:cNvSpPr/>
          <p:nvPr/>
        </p:nvSpPr>
        <p:spPr>
          <a:xfrm>
            <a:off x="1379578" y="360527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C8B009F-7E92-01D2-DB6E-367BB3A492CA}"/>
              </a:ext>
            </a:extLst>
          </p:cNvPr>
          <p:cNvSpPr/>
          <p:nvPr/>
        </p:nvSpPr>
        <p:spPr>
          <a:xfrm>
            <a:off x="563880" y="1500383"/>
            <a:ext cx="11064240" cy="4667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basic autonomous vehicle control simulation using C++.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classes, inheritance, virtual base classes, and polymorphism.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navigation, movement, and obstacle detection.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same vehicle operations using conventional functions.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both approaches using software design and performance parameters.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008E1-6DF3-DEB3-ED99-43154BC9882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A8463-BF70-85CD-ACAF-742D3AADEC1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69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9DF6-E943-39BA-7630-9B6DF8E3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33A96F2-FBD9-4C9C-DB08-632F1F49E042}"/>
              </a:ext>
            </a:extLst>
          </p:cNvPr>
          <p:cNvSpPr/>
          <p:nvPr/>
        </p:nvSpPr>
        <p:spPr>
          <a:xfrm>
            <a:off x="1379578" y="323207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72206F-A6B7-814F-7636-C998B8902AD3}"/>
              </a:ext>
            </a:extLst>
          </p:cNvPr>
          <p:cNvSpPr/>
          <p:nvPr/>
        </p:nvSpPr>
        <p:spPr>
          <a:xfrm>
            <a:off x="533400" y="1548883"/>
            <a:ext cx="11064240" cy="4871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Object-Oriented Programming (OOP) with virtual base classes, inheritance, and polymorphism to build a reusable vehicle control simulation.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Vehicle base class is shared by the Sensor and Navigation classes, reducing code duplication and improving software organization.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simulates key vehicle functions such as start, stop, movement, turning, and obstacle detection while providing a flexible and maintainable design.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compares the OOP and modular approaches based on code reusability, maintainability, execution time, memory usage, and scalability to evaluate their effectiveness.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C10DF-8980-6248-8315-C5FA6B0F0F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91DCC8-09B6-CAE0-0B02-F1FA75F7E28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116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6E74-EB75-F6DE-E617-CCF7E310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69FCDBB-E3C6-6353-9603-C01D602BB67B}"/>
              </a:ext>
            </a:extLst>
          </p:cNvPr>
          <p:cNvSpPr/>
          <p:nvPr/>
        </p:nvSpPr>
        <p:spPr>
          <a:xfrm>
            <a:off x="1379579" y="281738"/>
            <a:ext cx="9447812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96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DESIGNS, ONE VEHICLE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D4AA1FC-312F-01D8-EF93-EE525E3C93A9}"/>
              </a:ext>
            </a:extLst>
          </p:cNvPr>
          <p:cNvSpPr/>
          <p:nvPr/>
        </p:nvSpPr>
        <p:spPr>
          <a:xfrm>
            <a:off x="1379579" y="565809"/>
            <a:ext cx="9447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B50DE78-B7C3-C79E-83A4-B182DFD31E1C}"/>
              </a:ext>
            </a:extLst>
          </p:cNvPr>
          <p:cNvSpPr/>
          <p:nvPr/>
        </p:nvSpPr>
        <p:spPr>
          <a:xfrm>
            <a:off x="548640" y="155821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96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OBJECT-ORIENTED DESIGN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BFACD37-0B73-D0BE-22C2-6DF6B6574FCC}"/>
              </a:ext>
            </a:extLst>
          </p:cNvPr>
          <p:cNvSpPr/>
          <p:nvPr/>
        </p:nvSpPr>
        <p:spPr>
          <a:xfrm>
            <a:off x="548640" y="2152577"/>
            <a:ext cx="1691640" cy="548640"/>
          </a:xfrm>
          <a:prstGeom prst="roundRect">
            <a:avLst>
              <a:gd name="adj" fmla="val 11667"/>
            </a:avLst>
          </a:prstGeom>
          <a:solidFill>
            <a:srgbClr val="0D1B2A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134B3F3-703C-7A33-A4E5-6676B78FD6CD}"/>
              </a:ext>
            </a:extLst>
          </p:cNvPr>
          <p:cNvSpPr/>
          <p:nvPr/>
        </p:nvSpPr>
        <p:spPr>
          <a:xfrm>
            <a:off x="548640" y="2152577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Vehicle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(Base Class)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33EC74D-31FB-0A3E-1EB7-E1A2FF5B033C}"/>
              </a:ext>
            </a:extLst>
          </p:cNvPr>
          <p:cNvSpPr/>
          <p:nvPr/>
        </p:nvSpPr>
        <p:spPr>
          <a:xfrm>
            <a:off x="2788920" y="187825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0096C7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36B6478-83FF-E297-AC34-1B42775343A4}"/>
              </a:ext>
            </a:extLst>
          </p:cNvPr>
          <p:cNvSpPr/>
          <p:nvPr/>
        </p:nvSpPr>
        <p:spPr>
          <a:xfrm>
            <a:off x="2788920" y="1878257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Class (Virtual Base)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E3DC052-AE56-303A-7824-3C8732363D4F}"/>
              </a:ext>
            </a:extLst>
          </p:cNvPr>
          <p:cNvSpPr/>
          <p:nvPr/>
        </p:nvSpPr>
        <p:spPr>
          <a:xfrm>
            <a:off x="2788920" y="260977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0096C7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C584556-1A2E-12E0-2E21-D07179C1369A}"/>
              </a:ext>
            </a:extLst>
          </p:cNvPr>
          <p:cNvSpPr/>
          <p:nvPr/>
        </p:nvSpPr>
        <p:spPr>
          <a:xfrm>
            <a:off x="2788920" y="2609777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Navigation Class (Virtual Base)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2B7DBF1-8074-6C11-CE15-F375EF72918D}"/>
              </a:ext>
            </a:extLst>
          </p:cNvPr>
          <p:cNvSpPr/>
          <p:nvPr/>
        </p:nvSpPr>
        <p:spPr>
          <a:xfrm>
            <a:off x="5486400" y="2152577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B70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310E488-9C31-BA23-0D33-7932B2C3A7E4}"/>
              </a:ext>
            </a:extLst>
          </p:cNvPr>
          <p:cNvSpPr/>
          <p:nvPr/>
        </p:nvSpPr>
        <p:spPr>
          <a:xfrm>
            <a:off x="5486400" y="2152577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AutonomousCar Class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BEB1117A-DC3D-577A-54A3-219C06B949D3}"/>
              </a:ext>
            </a:extLst>
          </p:cNvPr>
          <p:cNvSpPr/>
          <p:nvPr/>
        </p:nvSpPr>
        <p:spPr>
          <a:xfrm>
            <a:off x="8001000" y="1878257"/>
            <a:ext cx="3639312" cy="1005840"/>
          </a:xfrm>
          <a:prstGeom prst="roundRect">
            <a:avLst>
              <a:gd name="adj" fmla="val 6364"/>
            </a:avLst>
          </a:prstGeom>
          <a:solidFill>
            <a:srgbClr val="1B2A41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EBDACA9E-9C20-8A4E-E53C-77DE6DF3C720}"/>
              </a:ext>
            </a:extLst>
          </p:cNvPr>
          <p:cNvSpPr/>
          <p:nvPr/>
        </p:nvSpPr>
        <p:spPr>
          <a:xfrm>
            <a:off x="8001000" y="1878257"/>
            <a:ext cx="36393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 Functions: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Start, Stop, Move, Turn,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Obstacle Detection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6533118-4A81-1432-4052-23CD8ACFE26E}"/>
              </a:ext>
            </a:extLst>
          </p:cNvPr>
          <p:cNvSpPr/>
          <p:nvPr/>
        </p:nvSpPr>
        <p:spPr>
          <a:xfrm flipV="1">
            <a:off x="2240280" y="2129717"/>
            <a:ext cx="548640" cy="297180"/>
          </a:xfrm>
          <a:prstGeom prst="line">
            <a:avLst/>
          </a:prstGeom>
          <a:noFill/>
          <a:ln w="19050">
            <a:solidFill>
              <a:srgbClr val="8A9B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14A448C6-4A9F-6657-AC81-E1222065CA94}"/>
              </a:ext>
            </a:extLst>
          </p:cNvPr>
          <p:cNvSpPr/>
          <p:nvPr/>
        </p:nvSpPr>
        <p:spPr>
          <a:xfrm>
            <a:off x="2240280" y="2426897"/>
            <a:ext cx="548640" cy="434340"/>
          </a:xfrm>
          <a:prstGeom prst="line">
            <a:avLst/>
          </a:prstGeom>
          <a:noFill/>
          <a:ln w="19050">
            <a:solidFill>
              <a:srgbClr val="8A9B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91BCBD12-76F1-933E-E12D-56E6CE99EF88}"/>
              </a:ext>
            </a:extLst>
          </p:cNvPr>
          <p:cNvSpPr/>
          <p:nvPr/>
        </p:nvSpPr>
        <p:spPr>
          <a:xfrm>
            <a:off x="4892040" y="2129717"/>
            <a:ext cx="594360" cy="132588"/>
          </a:xfrm>
          <a:prstGeom prst="line">
            <a:avLst/>
          </a:prstGeom>
          <a:noFill/>
          <a:ln w="19050">
            <a:solidFill>
              <a:srgbClr val="8A9B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105067C7-414C-DF7D-92D9-1CBC9491B307}"/>
              </a:ext>
            </a:extLst>
          </p:cNvPr>
          <p:cNvSpPr/>
          <p:nvPr/>
        </p:nvSpPr>
        <p:spPr>
          <a:xfrm flipV="1">
            <a:off x="4892040" y="2591489"/>
            <a:ext cx="594360" cy="269748"/>
          </a:xfrm>
          <a:prstGeom prst="line">
            <a:avLst/>
          </a:prstGeom>
          <a:noFill/>
          <a:ln w="19050">
            <a:solidFill>
              <a:srgbClr val="8A9B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E204DB64-A2E9-7A30-6709-2FD651281BAA}"/>
              </a:ext>
            </a:extLst>
          </p:cNvPr>
          <p:cNvSpPr/>
          <p:nvPr/>
        </p:nvSpPr>
        <p:spPr>
          <a:xfrm flipV="1">
            <a:off x="7452360" y="2381177"/>
            <a:ext cx="548640" cy="45720"/>
          </a:xfrm>
          <a:prstGeom prst="line">
            <a:avLst/>
          </a:prstGeom>
          <a:noFill/>
          <a:ln w="19050">
            <a:solidFill>
              <a:srgbClr val="8A9B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7D8065A7-F344-35CE-42CE-F6A7A128427A}"/>
              </a:ext>
            </a:extLst>
          </p:cNvPr>
          <p:cNvSpPr/>
          <p:nvPr/>
        </p:nvSpPr>
        <p:spPr>
          <a:xfrm>
            <a:off x="548640" y="3249857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and Navigation both virtually inherit Vehicle; AutonomousCar virtually inherits both — the diamond pattern virtual base classes resolve.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0A07DC6-7A89-2ABD-D1AA-A1364F185CE4}"/>
              </a:ext>
            </a:extLst>
          </p:cNvPr>
          <p:cNvSpPr/>
          <p:nvPr/>
        </p:nvSpPr>
        <p:spPr>
          <a:xfrm>
            <a:off x="495239" y="375297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96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PROGRAMMING DESIGN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EC9A6A79-74FE-581B-F95F-2CA34068BD14}"/>
              </a:ext>
            </a:extLst>
          </p:cNvPr>
          <p:cNvSpPr/>
          <p:nvPr/>
        </p:nvSpPr>
        <p:spPr>
          <a:xfrm>
            <a:off x="365760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5CE6EA1-9FBB-3068-8442-4F5F44F892E3}"/>
              </a:ext>
            </a:extLst>
          </p:cNvPr>
          <p:cNvSpPr/>
          <p:nvPr/>
        </p:nvSpPr>
        <p:spPr>
          <a:xfrm>
            <a:off x="992124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Image 0" descr="/home/claude/av_ppt/icons/car.png">
            <a:extLst>
              <a:ext uri="{FF2B5EF4-FFF2-40B4-BE49-F238E27FC236}">
                <a16:creationId xmlns:a16="http://schemas.microsoft.com/office/drawing/2014/main" id="{DAA4E146-0EBF-2FCA-53DC-C450C5BE6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4459109"/>
            <a:ext cx="146304" cy="146304"/>
          </a:xfrm>
          <a:prstGeom prst="rect">
            <a:avLst/>
          </a:prstGeom>
        </p:spPr>
      </p:pic>
      <p:sp>
        <p:nvSpPr>
          <p:cNvPr id="49" name="Text 22">
            <a:extLst>
              <a:ext uri="{FF2B5EF4-FFF2-40B4-BE49-F238E27FC236}">
                <a16:creationId xmlns:a16="http://schemas.microsoft.com/office/drawing/2014/main" id="{480BF7B1-BF19-E533-CEF4-DA563886FFF2}"/>
              </a:ext>
            </a:extLst>
          </p:cNvPr>
          <p:cNvSpPr/>
          <p:nvPr/>
        </p:nvSpPr>
        <p:spPr>
          <a:xfrm>
            <a:off x="365760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 Vehicle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D1A301B0-7B0A-0642-E6F9-4A30F3A08BC0}"/>
              </a:ext>
            </a:extLst>
          </p:cNvPr>
          <p:cNvSpPr/>
          <p:nvPr/>
        </p:nvSpPr>
        <p:spPr>
          <a:xfrm>
            <a:off x="2057400" y="4646561"/>
            <a:ext cx="170627" cy="128016"/>
          </a:xfrm>
          <a:prstGeom prst="rightArrow">
            <a:avLst/>
          </a:prstGeom>
          <a:solidFill>
            <a:srgbClr val="8A9BA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73ECF64D-EA8C-6B45-C8C7-F522522214ED}"/>
              </a:ext>
            </a:extLst>
          </p:cNvPr>
          <p:cNvSpPr/>
          <p:nvPr/>
        </p:nvSpPr>
        <p:spPr>
          <a:xfrm>
            <a:off x="2319467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40DC58D7-1B3E-7588-1B9C-24CECF1FB006}"/>
              </a:ext>
            </a:extLst>
          </p:cNvPr>
          <p:cNvSpPr/>
          <p:nvPr/>
        </p:nvSpPr>
        <p:spPr>
          <a:xfrm>
            <a:off x="2945831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Image 1" descr="/home/claude/av_ppt/icons/tachometer.png">
            <a:extLst>
              <a:ext uri="{FF2B5EF4-FFF2-40B4-BE49-F238E27FC236}">
                <a16:creationId xmlns:a16="http://schemas.microsoft.com/office/drawing/2014/main" id="{84BAEFB0-ECEB-053D-BC3A-279AE2067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135" y="4459109"/>
            <a:ext cx="146304" cy="146304"/>
          </a:xfrm>
          <a:prstGeom prst="rect">
            <a:avLst/>
          </a:prstGeom>
        </p:spPr>
      </p:pic>
      <p:sp>
        <p:nvSpPr>
          <p:cNvPr id="59" name="Text 26">
            <a:extLst>
              <a:ext uri="{FF2B5EF4-FFF2-40B4-BE49-F238E27FC236}">
                <a16:creationId xmlns:a16="http://schemas.microsoft.com/office/drawing/2014/main" id="{78EB2B04-1F37-84B4-F5B8-8B425FE4579E}"/>
              </a:ext>
            </a:extLst>
          </p:cNvPr>
          <p:cNvSpPr/>
          <p:nvPr/>
        </p:nvSpPr>
        <p:spPr>
          <a:xfrm>
            <a:off x="2319467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Vehicle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3379780C-F062-69B0-D2DD-E2BFB0E7128B}"/>
              </a:ext>
            </a:extLst>
          </p:cNvPr>
          <p:cNvSpPr/>
          <p:nvPr/>
        </p:nvSpPr>
        <p:spPr>
          <a:xfrm>
            <a:off x="4011107" y="4646561"/>
            <a:ext cx="170627" cy="128016"/>
          </a:xfrm>
          <a:prstGeom prst="rightArrow">
            <a:avLst/>
          </a:prstGeom>
          <a:solidFill>
            <a:srgbClr val="8A9BA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4A3E8CB-C7BA-CD68-3C8C-6E6FB5CCEB5D}"/>
              </a:ext>
            </a:extLst>
          </p:cNvPr>
          <p:cNvSpPr/>
          <p:nvPr/>
        </p:nvSpPr>
        <p:spPr>
          <a:xfrm>
            <a:off x="4273174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FF8EB26B-B901-2FF3-FE43-297F6A30F7DF}"/>
              </a:ext>
            </a:extLst>
          </p:cNvPr>
          <p:cNvSpPr/>
          <p:nvPr/>
        </p:nvSpPr>
        <p:spPr>
          <a:xfrm>
            <a:off x="4899538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Image 2" descr="/home/claude/av_ppt/icons/exclamation.png">
            <a:extLst>
              <a:ext uri="{FF2B5EF4-FFF2-40B4-BE49-F238E27FC236}">
                <a16:creationId xmlns:a16="http://schemas.microsoft.com/office/drawing/2014/main" id="{B425047F-0159-0CC0-67AD-1FB6050B4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842" y="4459109"/>
            <a:ext cx="146304" cy="146304"/>
          </a:xfrm>
          <a:prstGeom prst="rect">
            <a:avLst/>
          </a:prstGeom>
        </p:spPr>
      </p:pic>
      <p:sp>
        <p:nvSpPr>
          <p:cNvPr id="69" name="Text 30">
            <a:extLst>
              <a:ext uri="{FF2B5EF4-FFF2-40B4-BE49-F238E27FC236}">
                <a16:creationId xmlns:a16="http://schemas.microsoft.com/office/drawing/2014/main" id="{60F2EA47-AECB-3095-025C-3DFD04921A2C}"/>
              </a:ext>
            </a:extLst>
          </p:cNvPr>
          <p:cNvSpPr/>
          <p:nvPr/>
        </p:nvSpPr>
        <p:spPr>
          <a:xfrm>
            <a:off x="4273174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Obstacle Detection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1BF1803C-0F6C-59FA-209A-1547F2F33278}"/>
              </a:ext>
            </a:extLst>
          </p:cNvPr>
          <p:cNvSpPr/>
          <p:nvPr/>
        </p:nvSpPr>
        <p:spPr>
          <a:xfrm>
            <a:off x="5964814" y="4646561"/>
            <a:ext cx="170627" cy="128016"/>
          </a:xfrm>
          <a:prstGeom prst="rightArrow">
            <a:avLst/>
          </a:prstGeom>
          <a:solidFill>
            <a:srgbClr val="8A9BA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4060315F-5728-2BC9-0E15-31562D1F9310}"/>
              </a:ext>
            </a:extLst>
          </p:cNvPr>
          <p:cNvSpPr/>
          <p:nvPr/>
        </p:nvSpPr>
        <p:spPr>
          <a:xfrm>
            <a:off x="6226881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33">
            <a:extLst>
              <a:ext uri="{FF2B5EF4-FFF2-40B4-BE49-F238E27FC236}">
                <a16:creationId xmlns:a16="http://schemas.microsoft.com/office/drawing/2014/main" id="{8393DB3D-85A8-948A-9BA4-1AC17653DD88}"/>
              </a:ext>
            </a:extLst>
          </p:cNvPr>
          <p:cNvSpPr/>
          <p:nvPr/>
        </p:nvSpPr>
        <p:spPr>
          <a:xfrm>
            <a:off x="6853245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7" name="Image 3" descr="/home/claude/av_ppt/icons/checkcircle.png">
            <a:extLst>
              <a:ext uri="{FF2B5EF4-FFF2-40B4-BE49-F238E27FC236}">
                <a16:creationId xmlns:a16="http://schemas.microsoft.com/office/drawing/2014/main" id="{4F1055E0-EDA8-D171-BF01-A0377623E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549" y="4459109"/>
            <a:ext cx="146304" cy="146304"/>
          </a:xfrm>
          <a:prstGeom prst="rect">
            <a:avLst/>
          </a:prstGeom>
        </p:spPr>
      </p:pic>
      <p:sp>
        <p:nvSpPr>
          <p:cNvPr id="79" name="Text 34">
            <a:extLst>
              <a:ext uri="{FF2B5EF4-FFF2-40B4-BE49-F238E27FC236}">
                <a16:creationId xmlns:a16="http://schemas.microsoft.com/office/drawing/2014/main" id="{00FC9BF4-8B76-3DA3-6E73-5F1748557342}"/>
              </a:ext>
            </a:extLst>
          </p:cNvPr>
          <p:cNvSpPr/>
          <p:nvPr/>
        </p:nvSpPr>
        <p:spPr>
          <a:xfrm>
            <a:off x="6226881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Stop Vehicle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35">
            <a:extLst>
              <a:ext uri="{FF2B5EF4-FFF2-40B4-BE49-F238E27FC236}">
                <a16:creationId xmlns:a16="http://schemas.microsoft.com/office/drawing/2014/main" id="{359FF551-382A-02A8-60D5-3B09E4A2E4AD}"/>
              </a:ext>
            </a:extLst>
          </p:cNvPr>
          <p:cNvSpPr/>
          <p:nvPr/>
        </p:nvSpPr>
        <p:spPr>
          <a:xfrm>
            <a:off x="7918521" y="4646561"/>
            <a:ext cx="170627" cy="128016"/>
          </a:xfrm>
          <a:prstGeom prst="rightArrow">
            <a:avLst/>
          </a:prstGeom>
          <a:solidFill>
            <a:srgbClr val="8A9BA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64E3C26D-AC45-1851-01AD-AD9C057AAEB7}"/>
              </a:ext>
            </a:extLst>
          </p:cNvPr>
          <p:cNvSpPr/>
          <p:nvPr/>
        </p:nvSpPr>
        <p:spPr>
          <a:xfrm>
            <a:off x="8180588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37">
            <a:extLst>
              <a:ext uri="{FF2B5EF4-FFF2-40B4-BE49-F238E27FC236}">
                <a16:creationId xmlns:a16="http://schemas.microsoft.com/office/drawing/2014/main" id="{FF7943E2-CADF-6819-39B5-A6A03288427A}"/>
              </a:ext>
            </a:extLst>
          </p:cNvPr>
          <p:cNvSpPr/>
          <p:nvPr/>
        </p:nvSpPr>
        <p:spPr>
          <a:xfrm>
            <a:off x="8806952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Image 4" descr="/home/claude/av_ppt/icons/chartline.png">
            <a:extLst>
              <a:ext uri="{FF2B5EF4-FFF2-40B4-BE49-F238E27FC236}">
                <a16:creationId xmlns:a16="http://schemas.microsoft.com/office/drawing/2014/main" id="{924B99E9-F320-6F30-9DDB-B26EE2154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256" y="4459109"/>
            <a:ext cx="146304" cy="146304"/>
          </a:xfrm>
          <a:prstGeom prst="rect">
            <a:avLst/>
          </a:prstGeom>
        </p:spPr>
      </p:pic>
      <p:sp>
        <p:nvSpPr>
          <p:cNvPr id="89" name="Text 38">
            <a:extLst>
              <a:ext uri="{FF2B5EF4-FFF2-40B4-BE49-F238E27FC236}">
                <a16:creationId xmlns:a16="http://schemas.microsoft.com/office/drawing/2014/main" id="{198C14B1-3290-94B2-08CA-C7B13AECE1B7}"/>
              </a:ext>
            </a:extLst>
          </p:cNvPr>
          <p:cNvSpPr/>
          <p:nvPr/>
        </p:nvSpPr>
        <p:spPr>
          <a:xfrm>
            <a:off x="8180588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E92E40AA-26CA-8451-6ABE-47DB09F2933B}"/>
              </a:ext>
            </a:extLst>
          </p:cNvPr>
          <p:cNvSpPr/>
          <p:nvPr/>
        </p:nvSpPr>
        <p:spPr>
          <a:xfrm>
            <a:off x="9872228" y="4646561"/>
            <a:ext cx="170627" cy="128016"/>
          </a:xfrm>
          <a:prstGeom prst="rightArrow">
            <a:avLst/>
          </a:prstGeom>
          <a:solidFill>
            <a:srgbClr val="8A9BA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BCACEAC9-EF9F-BF2C-6143-9A82B4389A8E}"/>
              </a:ext>
            </a:extLst>
          </p:cNvPr>
          <p:cNvSpPr/>
          <p:nvPr/>
        </p:nvSpPr>
        <p:spPr>
          <a:xfrm>
            <a:off x="10134295" y="4184789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41">
            <a:extLst>
              <a:ext uri="{FF2B5EF4-FFF2-40B4-BE49-F238E27FC236}">
                <a16:creationId xmlns:a16="http://schemas.microsoft.com/office/drawing/2014/main" id="{A6C01F05-55E1-D806-74C8-08C3F04DC62C}"/>
              </a:ext>
            </a:extLst>
          </p:cNvPr>
          <p:cNvSpPr/>
          <p:nvPr/>
        </p:nvSpPr>
        <p:spPr>
          <a:xfrm>
            <a:off x="10760659" y="4312805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Image 5" descr="/home/claude/av_ppt/icons/listol.png">
            <a:extLst>
              <a:ext uri="{FF2B5EF4-FFF2-40B4-BE49-F238E27FC236}">
                <a16:creationId xmlns:a16="http://schemas.microsoft.com/office/drawing/2014/main" id="{12BCCBF4-D0CB-A874-E1B7-1B43618B7C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963" y="4459109"/>
            <a:ext cx="146304" cy="146304"/>
          </a:xfrm>
          <a:prstGeom prst="rect">
            <a:avLst/>
          </a:prstGeom>
        </p:spPr>
      </p:pic>
      <p:sp>
        <p:nvSpPr>
          <p:cNvPr id="99" name="Text 42">
            <a:extLst>
              <a:ext uri="{FF2B5EF4-FFF2-40B4-BE49-F238E27FC236}">
                <a16:creationId xmlns:a16="http://schemas.microsoft.com/office/drawing/2014/main" id="{178F88F0-4D54-7D17-52F2-BA448A04BC2A}"/>
              </a:ext>
            </a:extLst>
          </p:cNvPr>
          <p:cNvSpPr/>
          <p:nvPr/>
        </p:nvSpPr>
        <p:spPr>
          <a:xfrm>
            <a:off x="10134295" y="480658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Display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43">
            <a:extLst>
              <a:ext uri="{FF2B5EF4-FFF2-40B4-BE49-F238E27FC236}">
                <a16:creationId xmlns:a16="http://schemas.microsoft.com/office/drawing/2014/main" id="{29A831E0-B863-442F-F059-CF74125EF8FA}"/>
              </a:ext>
            </a:extLst>
          </p:cNvPr>
          <p:cNvSpPr/>
          <p:nvPr/>
        </p:nvSpPr>
        <p:spPr>
          <a:xfrm>
            <a:off x="548640" y="5556389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 44">
            <a:extLst>
              <a:ext uri="{FF2B5EF4-FFF2-40B4-BE49-F238E27FC236}">
                <a16:creationId xmlns:a16="http://schemas.microsoft.com/office/drawing/2014/main" id="{1D194DD2-5CDE-36CD-C9AD-BC946E5EB6AB}"/>
              </a:ext>
            </a:extLst>
          </p:cNvPr>
          <p:cNvSpPr/>
          <p:nvPr/>
        </p:nvSpPr>
        <p:spPr>
          <a:xfrm>
            <a:off x="822960" y="5556389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Parameters Tracked in Both Designs: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45">
            <a:extLst>
              <a:ext uri="{FF2B5EF4-FFF2-40B4-BE49-F238E27FC236}">
                <a16:creationId xmlns:a16="http://schemas.microsoft.com/office/drawing/2014/main" id="{DF7CA9A3-DE9B-60F9-A4A8-E95936746260}"/>
              </a:ext>
            </a:extLst>
          </p:cNvPr>
          <p:cNvSpPr/>
          <p:nvPr/>
        </p:nvSpPr>
        <p:spPr>
          <a:xfrm>
            <a:off x="3931920" y="5556389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Vehicle Speed   •   Obstacle Detection   •   Navigation Direction   •   Vehicle Status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C1894-1308-59D0-CA58-2C0EDCB55954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27FDBB-37BC-4B17-E4E9-4D3D07159B32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870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60A2-FC91-0841-A5BC-A2367750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91684F6-24AF-EFE1-EB35-57BAE84D1FB1}"/>
              </a:ext>
            </a:extLst>
          </p:cNvPr>
          <p:cNvSpPr/>
          <p:nvPr/>
        </p:nvSpPr>
        <p:spPr>
          <a:xfrm>
            <a:off x="1341613" y="441515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AUTONOMOUS VEHICLE CONTROL USING OOP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D9D93A8-DEB3-7287-9F7B-562775906F62}"/>
              </a:ext>
            </a:extLst>
          </p:cNvPr>
          <p:cNvSpPr/>
          <p:nvPr/>
        </p:nvSpPr>
        <p:spPr>
          <a:xfrm>
            <a:off x="412102" y="1829239"/>
            <a:ext cx="5970037" cy="4162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Vehicle class for common vehicle details and operations.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 and Navigation classes with virtual inheritance from Vehicle.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AutonomousCar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that combines the required features.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starting, stopping, moving, and turning.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inheritance and polymorphism to improve reusability and flexibility.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EF636-9FDA-665F-86A1-A837F19695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FEB88-9436-9F69-BFB7-7D20C4370AB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D2973-A530-6D93-579C-71CD9A5731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49" t="7897" r="50410" b="50874"/>
          <a:stretch>
            <a:fillRect/>
          </a:stretch>
        </p:blipFill>
        <p:spPr>
          <a:xfrm>
            <a:off x="6997959" y="1688843"/>
            <a:ext cx="4660641" cy="4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760D-DC57-AB18-F780-FFB15DE4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90B3785-E836-879E-8343-3FD6872D5A4E}"/>
              </a:ext>
            </a:extLst>
          </p:cNvPr>
          <p:cNvSpPr/>
          <p:nvPr/>
        </p:nvSpPr>
        <p:spPr>
          <a:xfrm>
            <a:off x="1341613" y="360479"/>
            <a:ext cx="9447813" cy="808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NAVIGATION AND OBSTACLE DETECTION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397B2CF-2FA1-817A-DD16-8261216B9FA6}"/>
              </a:ext>
            </a:extLst>
          </p:cNvPr>
          <p:cNvSpPr/>
          <p:nvPr/>
        </p:nvSpPr>
        <p:spPr>
          <a:xfrm>
            <a:off x="341929" y="2131194"/>
            <a:ext cx="6833312" cy="377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 movement command and the simulated obstacle distance.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vehicle's direction and speed during movement.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obstacle distance before allowing the vehicle to continue.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the vehicle and display a warning when an obstacle is too close.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current speed, direction, and vehicle status.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E8DFC-6CA9-D523-6C48-5068B8B7CD0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58B5A2-6C7A-35D2-FE6B-73CAC761E20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A2B9D-46E2-2F61-2D98-01287F80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92" t="8571" r="1323" b="51293"/>
          <a:stretch>
            <a:fillRect/>
          </a:stretch>
        </p:blipFill>
        <p:spPr>
          <a:xfrm>
            <a:off x="7595118" y="1854074"/>
            <a:ext cx="4008306" cy="404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6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DD20-9F61-94AF-8CB2-8DC9C8B3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EF024C-3166-9671-228D-B15C445D2EAF}"/>
              </a:ext>
            </a:extLst>
          </p:cNvPr>
          <p:cNvSpPr/>
          <p:nvPr/>
        </p:nvSpPr>
        <p:spPr>
          <a:xfrm>
            <a:off x="1341613" y="360479"/>
            <a:ext cx="9447813" cy="808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CONVENTIONAL MODULAR PROGRAMMING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B61E0D-4976-1CFB-F84B-9251A679D4D8}"/>
              </a:ext>
            </a:extLst>
          </p:cNvPr>
          <p:cNvSpPr/>
          <p:nvPr/>
        </p:nvSpPr>
        <p:spPr>
          <a:xfrm>
            <a:off x="461243" y="1487185"/>
            <a:ext cx="5532120" cy="517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vehicle operations using separate C++ functions.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functions for starting, stopping, moving, turning, and detecting obstacles.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vehicle speed, direction, and status in variables.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functions according to the user's commands.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implementation as the baseline for comparison with OOP.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E5CD0-23EA-E1D0-F0FE-984877730D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4E890-176D-9383-F801-1F7FE564098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158F66-140F-7110-23CB-96AB78858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59" t="57804" r="50937" b="5257"/>
          <a:stretch>
            <a:fillRect/>
          </a:stretch>
        </p:blipFill>
        <p:spPr>
          <a:xfrm>
            <a:off x="6330036" y="1828800"/>
            <a:ext cx="5400721" cy="440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17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C78A-D44E-11D4-27B5-6C266A33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83909F1-B51B-3A06-63C1-757C36F50A2B}"/>
              </a:ext>
            </a:extLst>
          </p:cNvPr>
          <p:cNvSpPr/>
          <p:nvPr/>
        </p:nvSpPr>
        <p:spPr>
          <a:xfrm>
            <a:off x="1341613" y="360479"/>
            <a:ext cx="9447813" cy="808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PERFORMANCE ANALYSIS AND COMPARISON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261F8C-12DF-51AC-2F7E-9BE7A4BFB93C}"/>
              </a:ext>
            </a:extLst>
          </p:cNvPr>
          <p:cNvSpPr/>
          <p:nvPr/>
        </p:nvSpPr>
        <p:spPr>
          <a:xfrm>
            <a:off x="563880" y="2047218"/>
            <a:ext cx="6527385" cy="377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OOP and modular implementations using the same test cases.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execution time using the same testing conditions.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memory usage if reliable measurements are available.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code reusability, maintainability, and scalability.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results in a comparison table or bar chart.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F02BD-B9F8-B393-9CC1-9B79604912F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56730-4AD7-2B68-2511-9F440F6F4A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9E9EE2-95E2-3790-06CA-B4692FF9E6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380" t="57960" r="960" b="3945"/>
          <a:stretch>
            <a:fillRect/>
          </a:stretch>
        </p:blipFill>
        <p:spPr>
          <a:xfrm>
            <a:off x="7091265" y="1856792"/>
            <a:ext cx="4726047" cy="404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8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1614-F250-65F8-D51B-F0CBC5E7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82639EC-F8C8-9C79-C9BF-978071D1654C}"/>
              </a:ext>
            </a:extLst>
          </p:cNvPr>
          <p:cNvSpPr/>
          <p:nvPr/>
        </p:nvSpPr>
        <p:spPr>
          <a:xfrm>
            <a:off x="1341613" y="441515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7843-548D-154A-0B26-851F4F22AD7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4E53F-008D-EEBA-7EC8-E63A997BB91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BD36D6-B06F-1DF1-CF2B-DBD13E34A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6922"/>
            <a:ext cx="12192000" cy="544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8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B26C-1042-BAA5-ACAE-0E508BFE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0AD9701-DDF9-C1DE-5CF1-F758CAF9301B}"/>
              </a:ext>
            </a:extLst>
          </p:cNvPr>
          <p:cNvSpPr/>
          <p:nvPr/>
        </p:nvSpPr>
        <p:spPr>
          <a:xfrm>
            <a:off x="1341613" y="441515"/>
            <a:ext cx="944781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50748-8F92-084D-3979-D870B90E35D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4F948-E7E8-D1D3-1709-B2C92C7432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CA740-2AAF-34D8-9D84-908F2A323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66164"/>
            <a:ext cx="12192000" cy="569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8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9249-B2D4-255C-7DF1-8B7CCC3D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2E6C1B9-B2A4-A6A4-F41E-5EFDCED201EC}"/>
              </a:ext>
            </a:extLst>
          </p:cNvPr>
          <p:cNvSpPr/>
          <p:nvPr/>
        </p:nvSpPr>
        <p:spPr>
          <a:xfrm>
            <a:off x="1341613" y="360479"/>
            <a:ext cx="9447813" cy="808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12AD35A-88DB-2715-5C2A-EDDD132487AF}"/>
              </a:ext>
            </a:extLst>
          </p:cNvPr>
          <p:cNvSpPr/>
          <p:nvPr/>
        </p:nvSpPr>
        <p:spPr>
          <a:xfrm>
            <a:off x="563880" y="1767300"/>
            <a:ext cx="11064240" cy="377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code by sharing common vehicle features.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vehicle operations easier to organize and understand.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new features through classes, inheritance, and functions.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safe-stop simulation when an obstacle is detected.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strengths and limitations of OOP and modular programming.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A8ECF-DAE3-43C6-3A74-6D0C8662A7C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6B3326-0CD6-6B2D-0D43-23A30BE5FE8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66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C6E0E-BA97-7AF9-A599-2E9004ED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B82E109-F5F1-9415-4F1E-DE0413D5E11D}"/>
              </a:ext>
            </a:extLst>
          </p:cNvPr>
          <p:cNvSpPr/>
          <p:nvPr/>
        </p:nvSpPr>
        <p:spPr>
          <a:xfrm>
            <a:off x="1548882" y="336270"/>
            <a:ext cx="92785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5EA3CE1-848E-EC4C-AA72-6E76FA983D99}"/>
              </a:ext>
            </a:extLst>
          </p:cNvPr>
          <p:cNvSpPr/>
          <p:nvPr/>
        </p:nvSpPr>
        <p:spPr>
          <a:xfrm>
            <a:off x="533400" y="2003399"/>
            <a:ext cx="11064240" cy="377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autonomous vehicle control through a C++ simulation.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help organize vehicle components and reuse common functionality.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modular programming provides a straightforward function-based alternative.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measurements and design comparisons help evaluate both approaches.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demonstrates basic control and obstacle-handling logic; it is not a real autonomous driving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271A7-4F7B-D365-DF9F-D7C5890C1E3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29" y="191627"/>
            <a:ext cx="1037650" cy="113985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493A98-30B0-D6D3-2F74-4D3CD45BFC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336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804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Wingdings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saida</cp:lastModifiedBy>
  <cp:revision>5</cp:revision>
  <dcterms:created xsi:type="dcterms:W3CDTF">2026-08-04T03:03:04Z</dcterms:created>
  <dcterms:modified xsi:type="dcterms:W3CDTF">2026-10-22T15:59:09Z</dcterms:modified>
</cp:coreProperties>
</file>